
<file path=[Content_Types].xml><?xml version="1.0" encoding="utf-8"?>
<Types xmlns="http://schemas.openxmlformats.org/package/2006/content-types">
  <Default Extension="png" ContentType="image/png"/>
  <Default Extension="webp" ContentType="image/png"/>
  <Default Extension="rels" ContentType="application/vnd.openxmlformats-package.relationships+xml"/>
  <Default Extension="xml" ContentType="application/xml"/>
  <Default Extension="photo-1555066931-4365d14bab8c" ContentType="image/photo-1555066931-4365d14bab8c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276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eb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hoto-1555066931-4365d14bab8c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5029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65760" y="126187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65760" y="1828800"/>
            <a:ext cx="256032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9659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
</a:t>
            </a:r>
            <a:r>
              <a:rPr lang="en-US" sz="13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ICT-2201
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880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</a:t>
            </a:r>
            <a:r>
              <a:rPr lang="en-US" sz="13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Hossen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(ID: 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IT-24063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
</a:t>
            </a: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ICT, MBSTU
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Nazrul Islam
</a:t>
            </a: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Professor, Dept. of ICT, MBSTU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103" y="264016"/>
            <a:ext cx="4966179" cy="47201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40480" y="0"/>
            <a:ext cx="530352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27678" y="2286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Linux?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0" y="1005840"/>
            <a:ext cx="4663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F1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0" y="1005840"/>
            <a:ext cx="64008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0" y="1051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0" y="133502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Freely available, modifiable, and distributable by anyone.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0" y="1965960"/>
            <a:ext cx="4663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F1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0" y="1965960"/>
            <a:ext cx="64008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0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Unix-Based Architecture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97680" y="229514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solid Unix design principles ensuring stability.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0" y="2926080"/>
            <a:ext cx="4663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F1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0" y="2926080"/>
            <a:ext cx="64008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2971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297680" y="32552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manages both hardware and software resources.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0" y="3886200"/>
            <a:ext cx="4663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F1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114800" y="3886200"/>
            <a:ext cx="64008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97680" y="3931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 &amp; Modify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297680" y="42153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licensing costs — customize to your exact needs.</a:t>
            </a:r>
            <a:endParaRPr lang="en-US" sz="11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68" y="961537"/>
            <a:ext cx="3287332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of Linux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0" y="804672"/>
            <a:ext cx="27432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06040" cy="1600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060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can run sessions simultaneously without conflict.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06040" cy="1600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060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161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multiple processes in parallel efficiently.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06040" cy="1600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51560"/>
            <a:ext cx="26060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2161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Security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1600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permissions and access control system.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606040" cy="1600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26060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992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kernel, UI, and tooling to suit any need.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06040" cy="1600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26060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992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37560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shell interface for complete system control.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606040" cy="1600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834640"/>
            <a:ext cx="26060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9992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72200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development, no vendor lock-in.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Architecture &amp;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640080"/>
          </a:xfrm>
          <a:prstGeom prst="rect">
            <a:avLst/>
          </a:prstGeom>
          <a:solidFill>
            <a:srgbClr val="94D2BD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966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71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&amp; applications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09928"/>
            <a:ext cx="3785616" cy="640080"/>
          </a:xfrm>
          <a:prstGeom prst="rect">
            <a:avLst/>
          </a:prstGeom>
          <a:solidFill>
            <a:srgbClr val="E9F1F5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7465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020824"/>
            <a:ext cx="3511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programs &amp; utilities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2459736"/>
            <a:ext cx="3456432" cy="640080"/>
          </a:xfrm>
          <a:prstGeom prst="rect">
            <a:avLst/>
          </a:prstGeom>
          <a:solidFill>
            <a:srgbClr val="0A9396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496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" y="2770632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interpreter (Bash, Zsh)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" y="3209544"/>
            <a:ext cx="3127248" cy="640080"/>
          </a:xfrm>
          <a:prstGeom prst="rect">
            <a:avLst/>
          </a:prstGeom>
          <a:solidFill>
            <a:srgbClr val="1A2E42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696" y="3520440"/>
            <a:ext cx="2852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OS — memory, process, I/O mgmt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4128" y="3959352"/>
            <a:ext cx="2798064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9959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427024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Storage, Network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Stack</a:t>
            </a:r>
            <a:endParaRPr lang="en-US" sz="11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720" y="947885"/>
            <a:ext cx="4277307" cy="3383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Linux Distributions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0" y="758952"/>
            <a:ext cx="27432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1371600"/>
          </a:xfrm>
          <a:prstGeom prst="rect">
            <a:avLst/>
          </a:prstGeom>
          <a:solidFill>
            <a:srgbClr val="1A2E42"/>
          </a:solidFill>
          <a:ln w="19050">
            <a:solidFill>
              <a:srgbClr val="E954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64008"/>
          </a:xfrm>
          <a:prstGeom prst="rect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beginners &amp; desktop 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06040" cy="1371600"/>
          </a:xfrm>
          <a:prstGeom prst="rect">
            <a:avLst/>
          </a:prstGeom>
          <a:solidFill>
            <a:srgbClr val="1A2E42"/>
          </a:solidFill>
          <a:ln w="19050">
            <a:solidFill>
              <a:srgbClr val="A80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06040" cy="64008"/>
          </a:xfrm>
          <a:prstGeom prst="rect">
            <a:avLst/>
          </a:prstGeom>
          <a:solidFill>
            <a:srgbClr val="A80030"/>
          </a:solidFill>
          <a:ln w="12700">
            <a:solidFill>
              <a:srgbClr val="A80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704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5727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Rock-solid stability &amp; server use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06040" cy="1371600"/>
          </a:xfrm>
          <a:prstGeom prst="rect">
            <a:avLst/>
          </a:prstGeom>
          <a:solidFill>
            <a:srgbClr val="1A2E42"/>
          </a:solidFill>
          <a:ln w="19050">
            <a:solidFill>
              <a:srgbClr val="2941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606040" cy="64008"/>
          </a:xfrm>
          <a:prstGeom prst="rect">
            <a:avLst/>
          </a:prstGeom>
          <a:solidFill>
            <a:srgbClr val="294172"/>
          </a:solidFill>
          <a:ln w="12700">
            <a:solidFill>
              <a:srgbClr val="2941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1704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15727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Cutting-edge features &amp; developers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2606040"/>
            <a:ext cx="4114800" cy="1371600"/>
          </a:xfrm>
          <a:prstGeom prst="rect">
            <a:avLst/>
          </a:prstGeom>
          <a:solidFill>
            <a:srgbClr val="1A2E42"/>
          </a:solidFill>
          <a:ln w="19050">
            <a:solidFill>
              <a:srgbClr val="1093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2606040"/>
            <a:ext cx="4114800" cy="64008"/>
          </a:xfrm>
          <a:prstGeom prst="rect">
            <a:avLst/>
          </a:prstGeom>
          <a:solidFill>
            <a:srgbClr val="1093BE"/>
          </a:solidFill>
          <a:ln w="12700">
            <a:solidFill>
              <a:srgbClr val="1093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770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1729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penetration testing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606040"/>
            <a:ext cx="4114800" cy="1371600"/>
          </a:xfrm>
          <a:prstGeom prst="rect">
            <a:avLst/>
          </a:prstGeom>
          <a:solidFill>
            <a:srgbClr val="1A2E42"/>
          </a:solidFill>
          <a:ln w="19050">
            <a:solidFill>
              <a:srgbClr val="CC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606040"/>
            <a:ext cx="41148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770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66360" y="31729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commercial Linux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Linux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67512" y="1005840"/>
            <a:ext cx="822960" cy="8229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81912" y="1371600"/>
            <a:ext cx="530352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1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11680"/>
            <a:ext cx="150876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command in the terminal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822960" cy="8229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00984" y="1371600"/>
            <a:ext cx="530352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39112" y="201168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1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39112" y="2011680"/>
            <a:ext cx="150876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0552" y="21031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30552" y="2560320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interprets the command 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05656" y="1005840"/>
            <a:ext cx="822960" cy="8229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05656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20056" y="1371600"/>
            <a:ext cx="530352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58184" y="201168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1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58184" y="2011680"/>
            <a:ext cx="150876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9624" y="21031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9624" y="2560320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processes and routes the request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24728" y="1005840"/>
            <a:ext cx="822960" cy="8229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24728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739128" y="1371600"/>
            <a:ext cx="530352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77256" y="201168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1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77256" y="2011680"/>
            <a:ext cx="150876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21031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68696" y="2560320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executes the physical operation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43800" y="1005840"/>
            <a:ext cx="822960" cy="8229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196328" y="201168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1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96328" y="2011680"/>
            <a:ext cx="150876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87768" y="21031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87768" y="2560320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displayed back to the user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vs Disadvantages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1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Advantages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Free and open-source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0253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Highly secure and stable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963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Fully customizable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900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Excellent 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838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Large community 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Runs on older hardware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F1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914400"/>
            <a:ext cx="39319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Disadvantages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15087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Steeper learning curve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00253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Limited software compatibility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4963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Requires command-line knowledge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9900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Less gaming support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4838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Hardware driver gaps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in the Real World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0" y="758952"/>
            <a:ext cx="27432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794760" y="1005840"/>
            <a:ext cx="5029200" cy="777240"/>
          </a:xfrm>
          <a:prstGeom prst="rect">
            <a:avLst/>
          </a:prstGeom>
          <a:solidFill>
            <a:srgbClr val="1A2E42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794760" y="1005840"/>
            <a:ext cx="64008" cy="777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77640" y="106070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77640" y="135331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of the world's top servers run Linux (Apache, Nginx).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94760" y="1947672"/>
            <a:ext cx="5029200" cy="777240"/>
          </a:xfrm>
          <a:prstGeom prst="rect">
            <a:avLst/>
          </a:prstGeom>
          <a:solidFill>
            <a:srgbClr val="1A2E42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94760" y="1947672"/>
            <a:ext cx="64008" cy="777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7640" y="20025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77640" y="229514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kernel is based directly on Linux.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94760" y="2889504"/>
            <a:ext cx="5029200" cy="777240"/>
          </a:xfrm>
          <a:prstGeom prst="rect">
            <a:avLst/>
          </a:prstGeom>
          <a:solidFill>
            <a:srgbClr val="1A2E42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94760" y="2889504"/>
            <a:ext cx="64008" cy="777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77640" y="29443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Supercomputers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977640" y="323697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the world's top 500 supercomputers use Linux.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794760" y="3831336"/>
            <a:ext cx="5029200" cy="777240"/>
          </a:xfrm>
          <a:prstGeom prst="rect">
            <a:avLst/>
          </a:prstGeom>
          <a:solidFill>
            <a:srgbClr val="1A2E42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794760" y="3831336"/>
            <a:ext cx="64008" cy="777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77640" y="38862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977640" y="417880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Google Cloud, Azure all run Linux at their core.</a:t>
            </a:r>
            <a:endParaRPr lang="en-US" sz="11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03" y="1031179"/>
            <a:ext cx="3027179" cy="169373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02" y="2889504"/>
            <a:ext cx="3059186" cy="1719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Linux Commands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30352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966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files and directories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933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/home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19933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directory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5237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projects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5237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new folder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054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rm file.txt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30540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 a 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584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pwd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584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 working directory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update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80360" y="4114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package list</a:t>
            </a:r>
            <a:endParaRPr lang="en-US" sz="12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20" y="960120"/>
            <a:ext cx="3331765" cy="34048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5066931-4365d14bab8c?w=900&amp;q=80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200400" y="822960"/>
            <a:ext cx="27432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8229600" cy="749808"/>
          </a:xfrm>
          <a:prstGeom prst="rect">
            <a:avLst/>
          </a:prstGeom>
          <a:solidFill>
            <a:srgbClr val="1A2E42">
              <a:alpha val="90000"/>
            </a:srgbClr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97280"/>
            <a:ext cx="64008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14300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a free, open-source operating system with a global developer community.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8229600" cy="749808"/>
          </a:xfrm>
          <a:prstGeom prst="rect">
            <a:avLst/>
          </a:prstGeom>
          <a:solidFill>
            <a:srgbClr val="1A2E42">
              <a:alpha val="90000"/>
            </a:srgbClr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011680"/>
            <a:ext cx="64008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05740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foundation of web servers, cloud platforms, Android, and supercomputers.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8229600" cy="749808"/>
          </a:xfrm>
          <a:prstGeom prst="rect">
            <a:avLst/>
          </a:prstGeom>
          <a:solidFill>
            <a:srgbClr val="1A2E42">
              <a:alpha val="90000"/>
            </a:srgbClr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926080"/>
            <a:ext cx="64008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97180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layered architecture (hardware → kernel → shell → applications) ensures stability.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3840480"/>
            <a:ext cx="8229600" cy="749808"/>
          </a:xfrm>
          <a:prstGeom prst="rect">
            <a:avLst/>
          </a:prstGeom>
          <a:solidFill>
            <a:srgbClr val="1A2E42">
              <a:alpha val="90000"/>
            </a:srgbClr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840480"/>
            <a:ext cx="64008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88620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distributions serve every use case — from desktop to enterprise security.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1A2E42">
              <a:alpha val="90000"/>
            </a:srgbClr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37160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3200400" y="2450592"/>
            <a:ext cx="27432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257860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3108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Hasan  |  IT24063  |  Dept. of ICT, MBSTU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494</Words>
  <Application>Microsoft Office PowerPoint</Application>
  <PresentationFormat>On-screen Show (16:9)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Operating System</dc:title>
  <dc:subject>PptxGenJS Presentation</dc:subject>
  <dc:creator>PptxGenJS</dc:creator>
  <cp:lastModifiedBy>hp</cp:lastModifiedBy>
  <cp:revision>5</cp:revision>
  <dcterms:created xsi:type="dcterms:W3CDTF">2026-05-02T17:09:16Z</dcterms:created>
  <dcterms:modified xsi:type="dcterms:W3CDTF">2026-05-02T17:54:11Z</dcterms:modified>
</cp:coreProperties>
</file>